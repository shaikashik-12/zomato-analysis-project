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57" r:id="rId4"/>
    <p:sldId id="259" r:id="rId5"/>
    <p:sldId id="260" r:id="rId6"/>
    <p:sldId id="261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65" r:id="rId15"/>
    <p:sldId id="274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1"/>
            <a:ext cx="7772400" cy="1752600"/>
          </a:xfrm>
        </p:spPr>
        <p:txBody>
          <a:bodyPr/>
          <a:lstStyle/>
          <a:p>
            <a:r>
              <a:rPr lang="en-IN" sz="3400" b="1">
                <a:solidFill>
                  <a:srgbClr val="E23744"/>
                </a:solidFill>
              </a:rPr>
              <a:t>ZOMATO 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63097"/>
            <a:ext cx="6769510" cy="4316361"/>
          </a:xfrm>
        </p:spPr>
        <p:txBody>
          <a:bodyPr>
            <a:normAutofit lnSpcReduction="10000"/>
          </a:bodyPr>
          <a:lstStyle/>
          <a:p>
            <a:endParaRPr lang="en-IN" sz="1800" dirty="0">
              <a:solidFill>
                <a:srgbClr val="2D2D2D"/>
              </a:solidFill>
            </a:endParaRPr>
          </a:p>
          <a:p>
            <a:endParaRPr lang="en-IN" sz="1800" dirty="0">
              <a:solidFill>
                <a:srgbClr val="2D2D2D"/>
              </a:solidFill>
            </a:endParaRPr>
          </a:p>
          <a:p>
            <a:endParaRPr lang="en-IN" sz="1800" dirty="0">
              <a:solidFill>
                <a:srgbClr val="2D2D2D"/>
              </a:solidFill>
            </a:endParaRPr>
          </a:p>
          <a:p>
            <a:endParaRPr lang="en-IN" sz="1800" dirty="0">
              <a:solidFill>
                <a:srgbClr val="2D2D2D"/>
              </a:solidFill>
            </a:endParaRPr>
          </a:p>
          <a:p>
            <a:r>
              <a:rPr lang="en-IN" sz="1800" b="1" dirty="0">
                <a:solidFill>
                  <a:schemeClr val="tx1"/>
                </a:solidFill>
              </a:rPr>
              <a:t>                                         </a:t>
            </a:r>
            <a:r>
              <a:rPr lang="en-IN" sz="2000" b="1" dirty="0">
                <a:solidFill>
                  <a:schemeClr val="tx1"/>
                </a:solidFill>
              </a:rPr>
              <a:t>PRESENTATION BY:</a:t>
            </a:r>
          </a:p>
          <a:p>
            <a:r>
              <a:rPr lang="en-IN" sz="1800" b="1" dirty="0">
                <a:solidFill>
                  <a:schemeClr val="tx1"/>
                </a:solidFill>
              </a:rPr>
              <a:t>                                                                                    </a:t>
            </a:r>
          </a:p>
          <a:p>
            <a:r>
              <a:rPr lang="en-IN" sz="1800" b="1" dirty="0">
                <a:solidFill>
                  <a:srgbClr val="C00000"/>
                </a:solidFill>
              </a:rPr>
              <a:t>                                                                         N AHAMAD BUQARI</a:t>
            </a:r>
          </a:p>
          <a:p>
            <a:r>
              <a:rPr lang="en-IN" sz="1800" b="1" dirty="0">
                <a:solidFill>
                  <a:srgbClr val="C00000"/>
                </a:solidFill>
              </a:rPr>
              <a:t>					        S ASHIK</a:t>
            </a:r>
          </a:p>
          <a:p>
            <a:r>
              <a:rPr lang="en-IN" sz="1800" b="1" dirty="0">
                <a:solidFill>
                  <a:srgbClr val="C00000"/>
                </a:solidFill>
              </a:rPr>
              <a:t>				             S ASIF</a:t>
            </a:r>
          </a:p>
          <a:p>
            <a:r>
              <a:rPr lang="en-IN" sz="1800" b="1" dirty="0">
                <a:solidFill>
                  <a:srgbClr val="C00000"/>
                </a:solidFill>
              </a:rPr>
              <a:t>                                                                    SHUBHAM MORE</a:t>
            </a:r>
          </a:p>
          <a:p>
            <a:r>
              <a:rPr lang="en-IN" sz="1800" b="1" dirty="0">
                <a:solidFill>
                  <a:srgbClr val="C00000"/>
                </a:solidFill>
              </a:rPr>
              <a:t>                                                      SANDHYA</a:t>
            </a:r>
          </a:p>
          <a:p>
            <a:r>
              <a:rPr lang="en-IN" sz="1800" b="1" dirty="0">
                <a:solidFill>
                  <a:srgbClr val="C00000"/>
                </a:solidFill>
              </a:rPr>
              <a:t>                                                              SACHIN YADAV</a:t>
            </a:r>
          </a:p>
          <a:p>
            <a:r>
              <a:rPr lang="en-IN" sz="1800" b="1" dirty="0">
                <a:solidFill>
                  <a:srgbClr val="C00000"/>
                </a:solidFill>
              </a:rPr>
              <a:t>                                                                YASHODIP PATIL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B16BBF-56A2-0923-8AAC-95649CAB3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0" y="2981632"/>
            <a:ext cx="3932904" cy="2927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77B35-0D4E-7EC5-7B2D-03307FB3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599D-8001-E418-EB99-07BAF5F9B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04801"/>
            <a:ext cx="7772400" cy="806244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254B9-F0A0-8D8C-09F4-979DC633E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297859"/>
            <a:ext cx="7241458" cy="518160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chemeClr val="tx1"/>
                </a:solidFill>
              </a:rPr>
              <a:t>AGENDA: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              </a:t>
            </a:r>
          </a:p>
          <a:p>
            <a:pPr algn="l"/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IN" sz="1800" dirty="0">
                <a:solidFill>
                  <a:srgbClr val="2D2D2D"/>
                </a:solidFill>
              </a:rPr>
              <a:t>•</a:t>
            </a:r>
            <a:r>
              <a:rPr lang="en-IN" sz="1800" dirty="0">
                <a:solidFill>
                  <a:srgbClr val="C00000"/>
                </a:solidFill>
              </a:rPr>
              <a:t> INTRODUCTION    </a:t>
            </a:r>
          </a:p>
          <a:p>
            <a:pPr algn="l"/>
            <a:r>
              <a:rPr lang="en-IN" sz="1800" dirty="0">
                <a:solidFill>
                  <a:srgbClr val="C00000"/>
                </a:solidFill>
              </a:rPr>
              <a:t>               </a:t>
            </a:r>
          </a:p>
          <a:p>
            <a:pPr algn="l"/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IN" sz="1800" dirty="0">
                <a:solidFill>
                  <a:srgbClr val="2D2D2D"/>
                </a:solidFill>
              </a:rPr>
              <a:t>•</a:t>
            </a:r>
            <a:r>
              <a:rPr lang="en-IN" sz="1800" dirty="0">
                <a:solidFill>
                  <a:srgbClr val="C00000"/>
                </a:solidFill>
              </a:rPr>
              <a:t> DATASET OVERVIEW </a:t>
            </a:r>
          </a:p>
          <a:p>
            <a:pPr algn="l"/>
            <a:endParaRPr lang="en-IN" sz="1800" dirty="0">
              <a:solidFill>
                <a:srgbClr val="C00000"/>
              </a:solidFill>
            </a:endParaRPr>
          </a:p>
          <a:p>
            <a:pPr algn="l"/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IN" sz="1800" dirty="0">
                <a:solidFill>
                  <a:srgbClr val="2D2D2D"/>
                </a:solidFill>
              </a:rPr>
              <a:t>•</a:t>
            </a:r>
            <a:r>
              <a:rPr lang="en-IN" sz="1800" dirty="0">
                <a:solidFill>
                  <a:srgbClr val="C00000"/>
                </a:solidFill>
              </a:rPr>
              <a:t>  KPI</a:t>
            </a:r>
          </a:p>
          <a:p>
            <a:pPr algn="l"/>
            <a:endParaRPr lang="en-IN" sz="1800" dirty="0">
              <a:solidFill>
                <a:srgbClr val="C00000"/>
              </a:solidFill>
            </a:endParaRPr>
          </a:p>
          <a:p>
            <a:pPr algn="l"/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IN" sz="1800" dirty="0">
                <a:solidFill>
                  <a:srgbClr val="2D2D2D"/>
                </a:solidFill>
              </a:rPr>
              <a:t>•</a:t>
            </a:r>
            <a:r>
              <a:rPr lang="en-IN" sz="1800" dirty="0">
                <a:solidFill>
                  <a:srgbClr val="C00000"/>
                </a:solidFill>
              </a:rPr>
              <a:t>  ANALYSIS</a:t>
            </a:r>
          </a:p>
          <a:p>
            <a:pPr algn="l"/>
            <a:endParaRPr lang="en-IN" sz="1800" dirty="0">
              <a:solidFill>
                <a:srgbClr val="C00000"/>
              </a:solidFill>
            </a:endParaRPr>
          </a:p>
          <a:p>
            <a:pPr algn="l"/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IN" sz="1800" dirty="0">
                <a:solidFill>
                  <a:srgbClr val="2D2D2D"/>
                </a:solidFill>
              </a:rPr>
              <a:t>•</a:t>
            </a:r>
            <a:r>
              <a:rPr lang="en-IN" sz="1800" dirty="0">
                <a:solidFill>
                  <a:srgbClr val="C00000"/>
                </a:solidFill>
              </a:rPr>
              <a:t> RECOMMENDATIONS</a:t>
            </a:r>
          </a:p>
          <a:p>
            <a:pPr algn="l"/>
            <a:endParaRPr lang="en-IN" sz="1800" dirty="0">
              <a:solidFill>
                <a:srgbClr val="C00000"/>
              </a:solidFill>
            </a:endParaRPr>
          </a:p>
          <a:p>
            <a:pPr algn="l"/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IN" sz="1800" dirty="0">
                <a:solidFill>
                  <a:srgbClr val="2D2D2D"/>
                </a:solidFill>
              </a:rPr>
              <a:t>• </a:t>
            </a:r>
            <a:r>
              <a:rPr lang="en-IN" sz="1800" dirty="0">
                <a:solidFill>
                  <a:srgbClr val="C00000"/>
                </a:solidFill>
              </a:rPr>
              <a:t>CONCLUSION                                   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65FDD-7F3C-E5E6-CE68-FDAC1AC9B822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89528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9316" cy="836407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45342"/>
            <a:ext cx="8401665" cy="51380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  </a:t>
            </a:r>
            <a:r>
              <a:rPr lang="en-IN" sz="3500" b="1" dirty="0">
                <a:solidFill>
                  <a:srgbClr val="2D2D2D"/>
                </a:solidFill>
              </a:rPr>
              <a:t>INTRODUCTION:</a:t>
            </a:r>
          </a:p>
          <a:p>
            <a:pPr marL="0" indent="0">
              <a:buNone/>
            </a:pPr>
            <a:r>
              <a:rPr sz="2400" dirty="0">
                <a:solidFill>
                  <a:srgbClr val="2D2D2D"/>
                </a:solidFill>
              </a:rPr>
              <a:t>• Zomato is an online food delivery</a:t>
            </a:r>
            <a:endParaRPr lang="en-IN" sz="24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sz="2400" dirty="0">
                <a:solidFill>
                  <a:srgbClr val="2D2D2D"/>
                </a:solidFill>
              </a:rPr>
              <a:t> </a:t>
            </a:r>
            <a:r>
              <a:rPr lang="en-IN" sz="2400" dirty="0">
                <a:solidFill>
                  <a:srgbClr val="2D2D2D"/>
                </a:solidFill>
              </a:rPr>
              <a:t>   </a:t>
            </a:r>
            <a:r>
              <a:rPr sz="2400" dirty="0">
                <a:solidFill>
                  <a:srgbClr val="2D2D2D"/>
                </a:solidFill>
              </a:rPr>
              <a:t>and restaurant discovery platform</a:t>
            </a:r>
            <a:r>
              <a:rPr lang="en-IN" sz="2400" dirty="0">
                <a:solidFill>
                  <a:srgbClr val="2D2D2D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D2D2D"/>
                </a:solidFill>
              </a:rPr>
              <a:t>• It generates large volumes of data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D2D2D"/>
                </a:solidFill>
              </a:rPr>
              <a:t>   on </a:t>
            </a:r>
            <a:r>
              <a:rPr lang="en-US" sz="2400" dirty="0" err="1">
                <a:solidFill>
                  <a:srgbClr val="2D2D2D"/>
                </a:solidFill>
              </a:rPr>
              <a:t>restaurants,cuisines,pricing</a:t>
            </a:r>
            <a:r>
              <a:rPr lang="en-US" sz="2400" dirty="0">
                <a:solidFill>
                  <a:srgbClr val="2D2D2D"/>
                </a:solidFill>
              </a:rPr>
              <a:t> and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D2D2D"/>
                </a:solidFill>
              </a:rPr>
              <a:t>   ratings.</a:t>
            </a:r>
            <a:endParaRPr lang="en-IN" sz="24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sz="2400" dirty="0">
                <a:solidFill>
                  <a:srgbClr val="2D2D2D"/>
                </a:solidFill>
              </a:rPr>
              <a:t>• This project analyzes Zomato data</a:t>
            </a:r>
            <a:endParaRPr lang="en-IN" sz="24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sz="2400" dirty="0">
                <a:solidFill>
                  <a:srgbClr val="2D2D2D"/>
                </a:solidFill>
              </a:rPr>
              <a:t> </a:t>
            </a:r>
            <a:r>
              <a:rPr lang="en-IN" sz="2400" dirty="0">
                <a:solidFill>
                  <a:srgbClr val="2D2D2D"/>
                </a:solidFill>
              </a:rPr>
              <a:t>  </a:t>
            </a:r>
            <a:r>
              <a:rPr sz="2400" dirty="0">
                <a:solidFill>
                  <a:srgbClr val="2D2D2D"/>
                </a:solidFill>
              </a:rPr>
              <a:t>to</a:t>
            </a:r>
            <a:r>
              <a:rPr lang="en-IN" sz="2400" dirty="0">
                <a:solidFill>
                  <a:srgbClr val="2D2D2D"/>
                </a:solidFill>
              </a:rPr>
              <a:t> understand restaurant performance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   and customer behaviour.</a:t>
            </a:r>
            <a:endParaRPr sz="24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sz="2400" dirty="0">
                <a:solidFill>
                  <a:srgbClr val="2D2D2D"/>
                </a:solidFill>
              </a:rPr>
              <a:t>• </a:t>
            </a:r>
            <a:r>
              <a:rPr lang="en-IN" sz="2400" dirty="0">
                <a:solidFill>
                  <a:srgbClr val="2D2D2D"/>
                </a:solidFill>
              </a:rPr>
              <a:t>It focuses on identifying popular 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   </a:t>
            </a:r>
            <a:r>
              <a:rPr lang="en-IN" sz="2400" dirty="0" err="1">
                <a:solidFill>
                  <a:srgbClr val="2D2D2D"/>
                </a:solidFill>
              </a:rPr>
              <a:t>cuisines,high</a:t>
            </a:r>
            <a:r>
              <a:rPr lang="en-IN" sz="2400" dirty="0">
                <a:solidFill>
                  <a:srgbClr val="2D2D2D"/>
                </a:solidFill>
              </a:rPr>
              <a:t>-demanded </a:t>
            </a:r>
            <a:r>
              <a:rPr lang="en-IN" sz="2400" dirty="0" err="1">
                <a:solidFill>
                  <a:srgbClr val="2D2D2D"/>
                </a:solidFill>
              </a:rPr>
              <a:t>cities,rating</a:t>
            </a:r>
            <a:endParaRPr lang="en-IN" sz="24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   trends etc.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   .</a:t>
            </a:r>
            <a:endParaRPr sz="2400" dirty="0">
              <a:solidFill>
                <a:srgbClr val="2D2D2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22E52B-A020-BF0F-74E5-DA473DD15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606" y="2038068"/>
            <a:ext cx="4021394" cy="3271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8923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7524"/>
            <a:ext cx="8229600" cy="5083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2D2D2D"/>
                </a:solidFill>
              </a:rPr>
              <a:t>DATASET OVERVIEW:</a:t>
            </a:r>
          </a:p>
          <a:p>
            <a:pPr marL="0" indent="0">
              <a:buNone/>
            </a:pPr>
            <a:r>
              <a:rPr sz="2200" dirty="0">
                <a:solidFill>
                  <a:srgbClr val="2D2D2D"/>
                </a:solidFill>
              </a:rPr>
              <a:t>• Restaurant </a:t>
            </a:r>
            <a:r>
              <a:rPr lang="en-IN" sz="2200" dirty="0">
                <a:solidFill>
                  <a:srgbClr val="2D2D2D"/>
                </a:solidFill>
              </a:rPr>
              <a:t>ID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Restaurant Name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Country 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City </a:t>
            </a:r>
            <a:endParaRPr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sz="2200" dirty="0">
                <a:solidFill>
                  <a:srgbClr val="2D2D2D"/>
                </a:solidFill>
              </a:rPr>
              <a:t>•  </a:t>
            </a:r>
            <a:r>
              <a:rPr lang="en-IN" sz="2200" dirty="0">
                <a:solidFill>
                  <a:srgbClr val="2D2D2D"/>
                </a:solidFill>
              </a:rPr>
              <a:t>Has Table Booking</a:t>
            </a:r>
            <a:endParaRPr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sz="2200" dirty="0">
                <a:solidFill>
                  <a:srgbClr val="2D2D2D"/>
                </a:solidFill>
              </a:rPr>
              <a:t>• Cuisine Type</a:t>
            </a:r>
          </a:p>
          <a:p>
            <a:pPr marL="0" indent="0">
              <a:buNone/>
            </a:pPr>
            <a:r>
              <a:rPr sz="2200" dirty="0">
                <a:solidFill>
                  <a:srgbClr val="2D2D2D"/>
                </a:solidFill>
              </a:rPr>
              <a:t>• Average Cost for Two</a:t>
            </a:r>
          </a:p>
          <a:p>
            <a:pPr marL="0" indent="0">
              <a:buNone/>
            </a:pPr>
            <a:r>
              <a:rPr sz="2200" dirty="0">
                <a:solidFill>
                  <a:srgbClr val="2D2D2D"/>
                </a:solidFill>
              </a:rPr>
              <a:t>• Ratings</a:t>
            </a:r>
          </a:p>
          <a:p>
            <a:pPr marL="0" indent="0">
              <a:buNone/>
            </a:pPr>
            <a:r>
              <a:rPr sz="2200" dirty="0">
                <a:solidFill>
                  <a:srgbClr val="2D2D2D"/>
                </a:solidFill>
              </a:rPr>
              <a:t>• Online Delivery Availability</a:t>
            </a: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Votes</a:t>
            </a:r>
          </a:p>
          <a:p>
            <a:pPr marL="0" indent="0">
              <a:buNone/>
            </a:pPr>
            <a:endParaRPr sz="2200" dirty="0">
              <a:solidFill>
                <a:srgbClr val="2D2D2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7033C-6451-4783-2718-FD708B0BE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612" y="2585884"/>
            <a:ext cx="4678188" cy="3215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5233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2D2D2D"/>
                </a:solidFill>
              </a:rPr>
              <a:t>KPI:</a:t>
            </a:r>
          </a:p>
          <a:p>
            <a:pPr marL="0" indent="0">
              <a:buNone/>
            </a:pPr>
            <a:endParaRPr lang="en-IN" sz="18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	</a:t>
            </a:r>
            <a:r>
              <a:rPr sz="2200" dirty="0">
                <a:solidFill>
                  <a:srgbClr val="2D2D2D"/>
                </a:solidFill>
              </a:rPr>
              <a:t>•</a:t>
            </a:r>
            <a:r>
              <a:rPr lang="en-IN" sz="2200" dirty="0">
                <a:solidFill>
                  <a:srgbClr val="2D2D2D"/>
                </a:solidFill>
              </a:rPr>
              <a:t> Total country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	</a:t>
            </a:r>
            <a:r>
              <a:rPr sz="2200" dirty="0">
                <a:solidFill>
                  <a:srgbClr val="2D2D2D"/>
                </a:solidFill>
              </a:rPr>
              <a:t>•</a:t>
            </a:r>
            <a:r>
              <a:rPr lang="en-IN" sz="2200" dirty="0">
                <a:solidFill>
                  <a:srgbClr val="2D2D2D"/>
                </a:solidFill>
              </a:rPr>
              <a:t> Total City</a:t>
            </a:r>
            <a:endParaRPr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	</a:t>
            </a:r>
            <a:r>
              <a:rPr sz="2200" dirty="0">
                <a:solidFill>
                  <a:srgbClr val="2D2D2D"/>
                </a:solidFill>
              </a:rPr>
              <a:t>• </a:t>
            </a:r>
            <a:r>
              <a:rPr lang="en-IN" sz="2200" dirty="0">
                <a:solidFill>
                  <a:srgbClr val="2D2D2D"/>
                </a:solidFill>
              </a:rPr>
              <a:t>Restaurant Count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	</a:t>
            </a:r>
            <a:r>
              <a:rPr sz="2200" dirty="0">
                <a:solidFill>
                  <a:srgbClr val="2D2D2D"/>
                </a:solidFill>
              </a:rPr>
              <a:t>•</a:t>
            </a:r>
            <a:r>
              <a:rPr lang="en-IN" sz="2200" dirty="0">
                <a:solidFill>
                  <a:srgbClr val="2D2D2D"/>
                </a:solidFill>
              </a:rPr>
              <a:t>Total Cuisines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	•Average Rating</a:t>
            </a:r>
          </a:p>
          <a:p>
            <a:pPr marL="0" indent="0">
              <a:buNone/>
            </a:pPr>
            <a:endParaRPr sz="1800" dirty="0">
              <a:solidFill>
                <a:srgbClr val="2D2D2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E1C947-F060-A577-4C6D-17DDB73E7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014" y="3283975"/>
            <a:ext cx="4051044" cy="2692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7749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0542"/>
            <a:ext cx="8229600" cy="498562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2D2D2D"/>
                </a:solidFill>
              </a:rPr>
              <a:t>COUNTRY-MAP: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Here we can see Country-wise 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 Total restaurants.</a:t>
            </a:r>
          </a:p>
          <a:p>
            <a:pPr marL="0" indent="0">
              <a:buNone/>
            </a:pPr>
            <a:endParaRPr lang="en-IN" sz="18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sz="2200" dirty="0">
                <a:solidFill>
                  <a:srgbClr val="2D2D2D"/>
                </a:solidFill>
              </a:rPr>
              <a:t>• </a:t>
            </a:r>
            <a:r>
              <a:rPr lang="en-IN" sz="2200" dirty="0">
                <a:solidFill>
                  <a:srgbClr val="2D2D2D"/>
                </a:solidFill>
              </a:rPr>
              <a:t>India has highest number of 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 Restaurants with total of 8,652.</a:t>
            </a:r>
          </a:p>
          <a:p>
            <a:pPr marL="0" indent="0">
              <a:buNone/>
            </a:pPr>
            <a:endParaRPr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sz="2200" dirty="0">
                <a:solidFill>
                  <a:srgbClr val="2D2D2D"/>
                </a:solidFill>
              </a:rPr>
              <a:t>• </a:t>
            </a:r>
            <a:r>
              <a:rPr lang="en-IN" sz="2200" dirty="0">
                <a:solidFill>
                  <a:srgbClr val="2D2D2D"/>
                </a:solidFill>
              </a:rPr>
              <a:t>Canada has least restaurants 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 With total of 4.</a:t>
            </a:r>
            <a:endParaRPr sz="2200" dirty="0">
              <a:solidFill>
                <a:srgbClr val="2D2D2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3E2F34-8BB9-41E9-F6C5-C62C8BB39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84" y="1868130"/>
            <a:ext cx="458183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5EEEA-5FCF-8504-FB7F-66ABE3003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F0F9-327F-B08A-3579-94535424C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7749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92711-B216-2D73-4B8A-4C867EE0B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542"/>
            <a:ext cx="8229600" cy="498562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2D2D2D"/>
                </a:solidFill>
              </a:rPr>
              <a:t>CITY-WISE TOTAL RESTAURANTS: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Here we can see top 10 cities 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 based on total number of 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 restaurants.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.</a:t>
            </a:r>
          </a:p>
          <a:p>
            <a:pPr marL="0" indent="0">
              <a:buNone/>
            </a:pPr>
            <a:r>
              <a:rPr sz="2200" dirty="0">
                <a:solidFill>
                  <a:srgbClr val="2D2D2D"/>
                </a:solidFill>
              </a:rPr>
              <a:t>• </a:t>
            </a:r>
            <a:r>
              <a:rPr lang="en-IN" sz="2200" dirty="0">
                <a:solidFill>
                  <a:srgbClr val="2D2D2D"/>
                </a:solidFill>
              </a:rPr>
              <a:t>New has highest number of 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 Restaurants with total of 5473.</a:t>
            </a:r>
          </a:p>
          <a:p>
            <a:pPr marL="0" indent="0">
              <a:buNone/>
            </a:pPr>
            <a:endParaRPr sz="2200" dirty="0">
              <a:solidFill>
                <a:srgbClr val="2D2D2D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49DDC-26DA-B641-B21D-4F46EDB5ED7A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F2A4BD-B6E0-644D-311B-05D538547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844" y="2737488"/>
            <a:ext cx="4314396" cy="297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42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163BA-A922-C0CA-7417-671C38F58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FA21B-12B4-D1ED-8777-27AA8E48B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7749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1915E-7D7C-4E4D-6F8B-AAC3F87AA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542"/>
            <a:ext cx="8229600" cy="498562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2D2D2D"/>
                </a:solidFill>
              </a:rPr>
              <a:t>CALENDER-WISE TOTAL RESTAURANTS: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Here we can see year wise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 total number of restaurants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 in the first visual.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•In the second visual we 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have month wise total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restaurants.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CAF8C6-6D68-7572-D6BB-803E9A2DFE5F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DDCA70-8A83-51AA-6976-CCAD733F5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660" y="1806333"/>
            <a:ext cx="4387580" cy="2215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F4EC07-9A39-7011-35EB-26772E957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563" y="4215903"/>
            <a:ext cx="4473677" cy="221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61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FC4A2-BC68-12D9-EFA7-EE7B7B79D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D6442-8472-336F-80E9-2E61A5C70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7749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9D25F-71CE-8C3A-0A53-047E62C47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542"/>
            <a:ext cx="8229600" cy="4985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2D2D2D"/>
                </a:solidFill>
              </a:rPr>
              <a:t>COUNT OF RESTAURANTS ON AVG RATING: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</a:t>
            </a:r>
            <a:r>
              <a:rPr lang="en-US" sz="2200" dirty="0">
                <a:solidFill>
                  <a:srgbClr val="2D2D2D"/>
                </a:solidFill>
              </a:rPr>
              <a:t>Most of the Restaurants have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</a:rPr>
              <a:t> rating between </a:t>
            </a:r>
            <a:r>
              <a:rPr lang="en-US" sz="2200" dirty="0"/>
              <a:t>(2.0-3.0) reflecting </a:t>
            </a:r>
          </a:p>
          <a:p>
            <a:pPr marL="0" indent="0">
              <a:buNone/>
            </a:pPr>
            <a:r>
              <a:rPr lang="en-US" sz="2200" dirty="0"/>
              <a:t>generally positive customer </a:t>
            </a:r>
          </a:p>
          <a:p>
            <a:pPr marL="0" indent="0">
              <a:buNone/>
            </a:pPr>
            <a:r>
              <a:rPr lang="en-US" sz="2200" dirty="0"/>
              <a:t>experiences on Zomato. 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</a:t>
            </a:r>
            <a:r>
              <a:rPr lang="en-US" sz="2200" dirty="0"/>
              <a:t>A smaller percentage of restaurants </a:t>
            </a:r>
          </a:p>
          <a:p>
            <a:pPr marL="0" indent="0">
              <a:buNone/>
            </a:pPr>
            <a:r>
              <a:rPr lang="en-US" sz="2200" dirty="0"/>
              <a:t>are highly rated (4-5).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FBE5B6-D32F-16D3-44A8-9C7821021316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1F748F-1954-0401-0516-9D57DFC03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4" y="2895600"/>
            <a:ext cx="4078421" cy="282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696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F0C3E-0F71-7795-C68E-CBD95700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7112-F731-DFA8-DEB7-E053BE370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7749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E1525-51C9-DFFC-E9D9-26B646B1B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542"/>
            <a:ext cx="8229600" cy="49856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2D2D2D"/>
                </a:solidFill>
              </a:rPr>
              <a:t>RESTAURANT COUNT ON AVG COST FOR TWO: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</a:t>
            </a:r>
            <a:r>
              <a:rPr lang="en-US" sz="2200" dirty="0">
                <a:solidFill>
                  <a:srgbClr val="2D2D2D"/>
                </a:solidFill>
              </a:rPr>
              <a:t>Most of the Restaurants have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</a:rPr>
              <a:t>  Price range between </a:t>
            </a:r>
            <a:r>
              <a:rPr lang="en-US" sz="2200" dirty="0"/>
              <a:t>(0-1000).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 </a:t>
            </a:r>
            <a:r>
              <a:rPr lang="en-US" sz="2200" dirty="0"/>
              <a:t>A smaller range of restaurants </a:t>
            </a:r>
          </a:p>
          <a:p>
            <a:pPr marL="0" indent="0">
              <a:buNone/>
            </a:pPr>
            <a:r>
              <a:rPr lang="en-US" sz="2200" dirty="0"/>
              <a:t>   have price range between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</a:rPr>
              <a:t>   (5000-6000).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•Price Range between(200000-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800000) is the most expensive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restaurants.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407366-4FC6-18E4-D6EE-599B28E4AF59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B9B145-7F84-6B3A-0AAC-B78A3857E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628" y="1750569"/>
            <a:ext cx="3613172" cy="460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4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FCFFD-9A44-71FE-AA68-9AB1D545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60ED0-7B93-BEF2-FC78-9BFBBE6B3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7749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FFC4C-EC04-F681-3AD9-074C0490A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542"/>
            <a:ext cx="8229600" cy="4985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2D2D2D"/>
                </a:solidFill>
              </a:rPr>
              <a:t>PERCENTAGE OF RESTUARNTS ON HAS TABLE BOOKING AND HAS ONLINE DELIVERY:</a:t>
            </a:r>
          </a:p>
          <a:p>
            <a:pPr marL="0" indent="0">
              <a:buNone/>
            </a:pPr>
            <a:endParaRPr lang="en-IN" sz="2200" b="1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•Percentage of Restaurants with no online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Delivery is 74.34%.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•Percentage of Restaurants with  online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Delivery is 25.66%.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•Percentage of Restaurants with no Has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Table booking is 87.88%.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•Percentage of Restaurants with Has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Table booking is 12.12%.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350FD8-44FC-6AE7-02D3-C68834A283B7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1ED14-1EE2-709B-4085-D38BF39FE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542" y="1826781"/>
            <a:ext cx="3065698" cy="211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BB86D2-2021-FED6-A448-F240303F6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542" y="4212825"/>
            <a:ext cx="3431458" cy="191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03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046EE-686C-9F1A-0216-4715578B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BABD-824A-2959-AA57-0D54F115C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7749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1426C-7004-08A8-C38C-2D4607D1F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542"/>
            <a:ext cx="8229600" cy="4985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rgbClr val="2D2D2D"/>
                </a:solidFill>
              </a:rPr>
              <a:t>CUISINES WISE SUM OF VOTES:</a:t>
            </a:r>
          </a:p>
          <a:p>
            <a:pPr marL="0" indent="0">
              <a:buNone/>
            </a:pPr>
            <a:endParaRPr lang="en-IN" sz="2200" b="1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•Here we have taken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top 10 cuisines based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on sum of Voting.</a:t>
            </a:r>
          </a:p>
          <a:p>
            <a:pPr marL="0" indent="0">
              <a:buNone/>
            </a:pP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•North </a:t>
            </a:r>
            <a:r>
              <a:rPr lang="en-IN" sz="2200" dirty="0" err="1">
                <a:solidFill>
                  <a:srgbClr val="2D2D2D"/>
                </a:solidFill>
              </a:rPr>
              <a:t>Indian,Mughlai</a:t>
            </a:r>
            <a:endParaRPr lang="en-IN" sz="22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has highest number of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2D2D2D"/>
                </a:solidFill>
              </a:rPr>
              <a:t>  votes.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2E2963-4B92-14BE-46B0-B1AA81D92E45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3B609-BB4A-C7D6-A81B-FCD14DA99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552" y="2659506"/>
            <a:ext cx="4988176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96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75156-87CB-3FA5-6C83-8B0CFA1E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ECD7-6704-D13A-5CEB-DDF11E0B8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7749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1A1AFB-A86B-1F46-6397-A24E1DEFA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42799"/>
            <a:ext cx="8229600" cy="4580389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22EEAE-4F3C-27BB-CAC2-F1432667C7D7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78696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rgbClr val="2D2D2D"/>
                </a:solidFill>
              </a:rPr>
              <a:t>RECOMMENDATION:</a:t>
            </a:r>
          </a:p>
          <a:p>
            <a:pPr marL="0" indent="0">
              <a:buNone/>
            </a:pPr>
            <a:endParaRPr lang="en-IN" sz="2800" b="1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• </a:t>
            </a:r>
            <a:r>
              <a:rPr lang="en-US" sz="2400" dirty="0">
                <a:solidFill>
                  <a:srgbClr val="2D2D2D"/>
                </a:solidFill>
              </a:rPr>
              <a:t>Focus expansion on high-demand locations with fewer restaurants.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• </a:t>
            </a:r>
            <a:r>
              <a:rPr lang="en-US" sz="2400" dirty="0">
                <a:solidFill>
                  <a:srgbClr val="2D2D2D"/>
                </a:solidFill>
              </a:rPr>
              <a:t>Promote top-rated and popular cuisines to increase customer engagement.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• </a:t>
            </a:r>
            <a:r>
              <a:rPr lang="en-US" sz="2400" dirty="0">
                <a:solidFill>
                  <a:srgbClr val="2D2D2D"/>
                </a:solidFill>
              </a:rPr>
              <a:t>Encourage more restaurants to enable online delivery services.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• </a:t>
            </a:r>
            <a:r>
              <a:rPr lang="en-US" sz="2400" dirty="0">
                <a:solidFill>
                  <a:srgbClr val="2D2D2D"/>
                </a:solidFill>
              </a:rPr>
              <a:t>Use customer ratings and reviews to improve restaurant quality and service.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83252-428E-8B83-86BF-05C1483F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B16E-DD34-E6BE-FC6D-68265A0D5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IN" sz="3400" b="1" dirty="0">
                <a:solidFill>
                  <a:srgbClr val="E23744"/>
                </a:solidFill>
              </a:rPr>
              <a:t>ZOMATO ANALYSIS PROJECT</a:t>
            </a:r>
            <a:endParaRPr sz="3400" b="1" dirty="0">
              <a:solidFill>
                <a:srgbClr val="E2374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87B92-3D86-C12C-C260-0E800E2E6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2D2D2D"/>
                </a:solidFill>
              </a:rPr>
              <a:t>CONCLUSION:</a:t>
            </a:r>
          </a:p>
          <a:p>
            <a:pPr marL="0" indent="0">
              <a:buNone/>
            </a:pPr>
            <a:r>
              <a:rPr sz="2400" dirty="0">
                <a:solidFill>
                  <a:srgbClr val="2D2D2D"/>
                </a:solidFill>
              </a:rPr>
              <a:t>•</a:t>
            </a:r>
            <a:r>
              <a:rPr lang="en-US" sz="2400" dirty="0">
                <a:solidFill>
                  <a:srgbClr val="2D2D2D"/>
                </a:solidFill>
              </a:rPr>
              <a:t>The analysis helps understand customer preferences and restaurant performance.</a:t>
            </a:r>
          </a:p>
          <a:p>
            <a:pPr marL="0" indent="0">
              <a:buNone/>
            </a:pPr>
            <a:endParaRPr lang="en-US" sz="24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• </a:t>
            </a:r>
            <a:r>
              <a:rPr lang="en-US" sz="2400" dirty="0">
                <a:solidFill>
                  <a:srgbClr val="2D2D2D"/>
                </a:solidFill>
              </a:rPr>
              <a:t>Location, cuisine, and pricing strongly influence ratings and   demand.</a:t>
            </a:r>
          </a:p>
          <a:p>
            <a:pPr marL="0" indent="0">
              <a:buNone/>
            </a:pPr>
            <a:endParaRPr lang="en-US" sz="24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• </a:t>
            </a:r>
            <a:r>
              <a:rPr lang="en-US" sz="2400" dirty="0">
                <a:solidFill>
                  <a:srgbClr val="2D2D2D"/>
                </a:solidFill>
              </a:rPr>
              <a:t>Online delivery availability improves restaurant reach and customer engagement.</a:t>
            </a:r>
          </a:p>
          <a:p>
            <a:pPr marL="0" indent="0">
              <a:buNone/>
            </a:pPr>
            <a:endParaRPr lang="en-US" sz="2400" dirty="0">
              <a:solidFill>
                <a:srgbClr val="2D2D2D"/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2D2D2D"/>
                </a:solidFill>
              </a:rPr>
              <a:t>• </a:t>
            </a:r>
            <a:r>
              <a:rPr lang="en-US" sz="2400" dirty="0">
                <a:solidFill>
                  <a:srgbClr val="2D2D2D"/>
                </a:solidFill>
              </a:rPr>
              <a:t>Overall, the project shows how data analysis supports better business decisions for Zomato.</a:t>
            </a:r>
            <a:endParaRPr sz="2400" dirty="0">
              <a:solidFill>
                <a:srgbClr val="2D2D2D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DF41AD-E74D-CF52-7CD0-EDC17754DDE6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83956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b="1" dirty="0">
              <a:solidFill>
                <a:srgbClr val="2D2D2D"/>
              </a:solidFill>
            </a:endParaRPr>
          </a:p>
          <a:p>
            <a:pPr marL="0" indent="0" algn="ctr">
              <a:buNone/>
            </a:pPr>
            <a:r>
              <a:rPr lang="en-IN" sz="5400" b="1" dirty="0">
                <a:solidFill>
                  <a:srgbClr val="C00000"/>
                </a:solidFill>
              </a:rPr>
              <a:t>THANK YOU</a:t>
            </a:r>
            <a:endParaRPr sz="54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617</Words>
  <Application>Microsoft Office PowerPoint</Application>
  <PresentationFormat>On-screen Show (4:3)</PresentationFormat>
  <Paragraphs>159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ZOMATO  ANALYSIS PROJECT</vt:lpstr>
      <vt:lpstr>ZOMATO  ANALYSIS PROJECT</vt:lpstr>
      <vt:lpstr>ZOMATO ANALYSIS PROJECT</vt:lpstr>
      <vt:lpstr>ZOMATO ANALYSIS PROJECT</vt:lpstr>
      <vt:lpstr>ZOMATO ANALYSIS PROJECT</vt:lpstr>
      <vt:lpstr>ZOMATO ANALYSIS PROJECT</vt:lpstr>
      <vt:lpstr>ZOMATO ANALYSIS PROJECT</vt:lpstr>
      <vt:lpstr>ZOMATO ANALYSIS PROJECT</vt:lpstr>
      <vt:lpstr>ZOMATO ANALYSIS PROJECT</vt:lpstr>
      <vt:lpstr>ZOMATO ANALYSIS PROJECT</vt:lpstr>
      <vt:lpstr>ZOMATO ANALYSIS PROJECT</vt:lpstr>
      <vt:lpstr>ZOMATO ANALYSIS PROJECT</vt:lpstr>
      <vt:lpstr>ZOMATO ANALYSIS PROJECT</vt:lpstr>
      <vt:lpstr>ZOMATO ANALYSIS PROJECT</vt:lpstr>
      <vt:lpstr>ZOMATO ANALYSIS PROJECT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Shaik Asif</dc:creator>
  <cp:keywords/>
  <dc:description>generated using python-pptx</dc:description>
  <cp:lastModifiedBy>Shaik Asif</cp:lastModifiedBy>
  <cp:revision>8</cp:revision>
  <dcterms:created xsi:type="dcterms:W3CDTF">2013-01-27T09:14:16Z</dcterms:created>
  <dcterms:modified xsi:type="dcterms:W3CDTF">2026-02-14T13:46:01Z</dcterms:modified>
  <cp:category/>
</cp:coreProperties>
</file>